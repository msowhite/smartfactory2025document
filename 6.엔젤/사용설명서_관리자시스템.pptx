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 userDrawn="1">
          <p15:clr>
            <a:srgbClr val="A4A3A4"/>
          </p15:clr>
        </p15:guide>
        <p15:guide id="2" pos="507" userDrawn="1">
          <p15:clr>
            <a:srgbClr val="A4A3A4"/>
          </p15:clr>
        </p15:guide>
        <p15:guide id="3" pos="73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9" d="100"/>
          <a:sy n="99" d="100"/>
        </p:scale>
        <p:origin x="108" y="204"/>
      </p:cViewPr>
      <p:guideLst>
        <p:guide orient="horz" pos="686"/>
        <p:guide pos="507"/>
        <p:guide pos="73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BE9B6D-9318-B03F-B320-860D6829C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769BCA0-B988-A2D0-E669-48820E5EF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B71766-88CC-0865-DAD1-532F56FA9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1079-73CF-4A1B-BB96-78C74AF77B19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C96EFF-FBE9-0E34-A61F-7B5C66C2F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CC3C93-5483-95B0-40BF-30A336F82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805-4D6B-4A70-9EA7-1A91CE73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55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E0376-47BE-F303-C30E-B28E0AA89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6"/>
            <a:ext cx="10515600" cy="315912"/>
          </a:xfrm>
        </p:spPr>
        <p:txBody>
          <a:bodyPr/>
          <a:lstStyle>
            <a:lvl1pPr>
              <a:defRPr sz="1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8F93E5-DA28-2E1D-6C99-A19070AC1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2BD4E6-BD9F-E2EA-8F3E-66C06E3D7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1079-73CF-4A1B-BB96-78C74AF77B19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9753D1-ADB7-E820-D67D-8DC40910F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EA20B1-129B-625A-3E2C-B6A0BDB65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805-4D6B-4A70-9EA7-1A91CE73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53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FB10ED-6C3C-EADC-81BC-62AF4F240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80C9DD-B171-2487-A101-859147034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9A4ED1-F650-BEF5-24AB-00C913EFD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1079-73CF-4A1B-BB96-78C74AF77B19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392E9E-FF19-EA10-3032-C76C4BB62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CBEE9-90F3-F012-4B86-C84B1F177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805-4D6B-4A70-9EA7-1A91CE73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576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354F21-049A-67D4-6E79-263C378BE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76C430-7B89-0D94-6609-B71F195321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463D29-97BB-437E-5F74-6D3430261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30DA21-3E02-6A93-503B-E387318E0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1079-73CF-4A1B-BB96-78C74AF77B19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0C1507-1E31-9216-3A69-08E5937D4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476FF5-A519-74FD-7814-613FD0C7B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805-4D6B-4A70-9EA7-1A91CE73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1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3B3201-85D3-C331-9D31-A632476F5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564268-4235-7313-740D-BA74DEC7E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B197B2-6F49-03B8-46AF-9F3A1E1A0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62BF91-1518-7102-7F73-B484D5FF12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B7B2FF7-E050-84DC-C651-B7D2A80011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CECF057-5A44-DCA3-723E-1FBD1C7C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1079-73CF-4A1B-BB96-78C74AF77B19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94F4477-9E12-BEE7-DFB1-1FB584631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F8BF502-6B1C-A034-7D55-0494CED0B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805-4D6B-4A70-9EA7-1A91CE73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945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39C6994-CD0B-6E44-A883-0C2CB5EBD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1079-73CF-4A1B-BB96-78C74AF77B19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BD92AA-D8EF-6E29-935C-CA4F79F63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F1B930F-BB9F-9DFB-2C6E-7997025F5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805-4D6B-4A70-9EA7-1A91CE73054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D6E5EB9-C79C-354E-8C3A-6BD73DA10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6"/>
            <a:ext cx="10515600" cy="315912"/>
          </a:xfrm>
        </p:spPr>
        <p:txBody>
          <a:bodyPr/>
          <a:lstStyle>
            <a:lvl1pPr>
              <a:defRPr sz="1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480602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5364AF-4930-02CA-6706-DBAD6D8DD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1079-73CF-4A1B-BB96-78C74AF77B19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387683-BF08-ABC4-0AA6-1A3C501E3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718B50-B9E6-63BC-FC5C-47B67CBEB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805-4D6B-4A70-9EA7-1A91CE73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1065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741124-3BFE-6CCF-D197-59B980223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4F9701-F49A-3F12-4A41-87D3548A8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B6BB8A-F0F4-25D4-359B-3CC6739C0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F21766-7C82-556E-003F-BEC6F889C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1079-73CF-4A1B-BB96-78C74AF77B19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3E6779-E232-913F-872F-D23E7C0B3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944DCA-A3E1-7900-72B8-DBE36FFBD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805-4D6B-4A70-9EA7-1A91CE73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368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232D5-AF77-5353-DFCD-6D34AF6A5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51E98F2-5953-69E1-2C78-F6708AD444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54C58C-DB32-93ED-46B5-2EB684E77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B3ABBA-E7FB-473A-19CF-8E15A965E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1079-73CF-4A1B-BB96-78C74AF77B19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F5A0F7-E81D-CEC7-5915-2014CB461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C6CA6C-1401-F5B8-C581-A7B0604F5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805-4D6B-4A70-9EA7-1A91CE73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593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4ACE07-D3AC-89C4-E8E0-FD95AE1C2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F0F5B3-9650-DFEB-AF62-6937C9BEE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79D045-BDAA-9FCF-5E07-55F60D659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1079-73CF-4A1B-BB96-78C74AF77B19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7D6F4D-E35C-1AC0-6A01-F515AFAF5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AB68BB-F585-E4DB-80BB-EA9460260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805-4D6B-4A70-9EA7-1A91CE73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980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C0CFFA9-8BF1-D9FC-C3D1-039C23800B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AEDD47-4AFD-2EEB-8C34-F00869860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B00A93-04A8-B23E-A493-45693FE6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1079-73CF-4A1B-BB96-78C74AF77B19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6A35E4-9F8C-1919-93DE-D55E170C3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0BEFEB-0B74-C0A3-9344-6ECCC585E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805-4D6B-4A70-9EA7-1A91CE73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23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5037A6-8A58-8C13-D4D8-3A3F2943D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9D85AF-A571-43C5-FC9A-F7DED8BF8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2561D6-3BFA-17F6-1F3D-6D512C38E3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711079-73CF-4A1B-BB96-78C74AF77B19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0AE113-0D59-3BA6-E53A-B175C8278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0D5E99-94C0-7781-EE66-B78B97A09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6C805-4D6B-4A70-9EA7-1A91CE73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813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6472A-57B1-CB6E-4860-7A8134E43E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사용설명서</a:t>
            </a:r>
            <a:r>
              <a:rPr lang="en-US" altLang="ko-KR" sz="3600" dirty="0"/>
              <a:t>_</a:t>
            </a:r>
            <a:r>
              <a:rPr lang="ko-KR" altLang="en-US" sz="3600" dirty="0"/>
              <a:t>관리자시스템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7B43C7-4F30-4137-F658-869FC710B5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2706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6EDE9D-A227-A1D0-BAFF-207FE16F5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관리자정보 </a:t>
            </a:r>
            <a:r>
              <a:rPr lang="en-US" altLang="ko-KR" dirty="0"/>
              <a:t>&gt; </a:t>
            </a:r>
            <a:r>
              <a:rPr lang="ko-KR" altLang="en-US" dirty="0"/>
              <a:t>데이터관리 </a:t>
            </a:r>
          </a:p>
        </p:txBody>
      </p:sp>
      <p:pic>
        <p:nvPicPr>
          <p:cNvPr id="6" name="그림 5" descr="텍스트, 소프트웨어, 라인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E2ADFC-6C79-67BE-5E46-169684AEA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2" y="1089025"/>
            <a:ext cx="8176329" cy="33385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44E313-C9CC-061D-272E-A3C9451F96CB}"/>
              </a:ext>
            </a:extLst>
          </p:cNvPr>
          <p:cNvSpPr txBox="1"/>
          <p:nvPr/>
        </p:nvSpPr>
        <p:spPr>
          <a:xfrm>
            <a:off x="804862" y="4486275"/>
            <a:ext cx="10836276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챗봇에서</a:t>
            </a:r>
            <a:r>
              <a:rPr lang="ko-KR" altLang="en-US" sz="1200" dirty="0"/>
              <a:t> 제공할 정보에 대한 데이터를 관리한다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처음 화면에 진입하면 위 화면이 보인다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1. </a:t>
            </a:r>
            <a:r>
              <a:rPr lang="ko-KR" altLang="en-US" sz="1200" dirty="0"/>
              <a:t>조회조건 </a:t>
            </a:r>
            <a:r>
              <a:rPr lang="en-US" altLang="ko-KR" sz="1200" dirty="0"/>
              <a:t>: </a:t>
            </a:r>
            <a:r>
              <a:rPr lang="ko-KR" altLang="en-US" sz="1200" dirty="0"/>
              <a:t>조회조건을 입력하고 조회 버튼을 클릭하면 해당 데이터가 그리드에 엑셀시트처럼 표시된다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조회조건에 아무것도 입력하지 않고 조회 버튼을 클릭하면 모든 데이터가 표시되느라 시간이 너무 많이 걸리므로 </a:t>
            </a:r>
            <a:r>
              <a:rPr lang="ko-KR" altLang="en-US" sz="1200" dirty="0">
                <a:solidFill>
                  <a:srgbClr val="FF0000"/>
                </a:solidFill>
              </a:rPr>
              <a:t>조회에 필요한 내용을 입력하고 </a:t>
            </a:r>
            <a:r>
              <a:rPr lang="ko-KR" altLang="en-US" sz="1200" dirty="0"/>
              <a:t>조회 버튼을 클릭해야 적절한 시간에 표시될 수 있다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한 개의 데이터를 등록하고 저장하면 전체 데이터가 재 조회 되므로 </a:t>
            </a:r>
            <a:r>
              <a:rPr lang="ko-KR" altLang="en-US" sz="1200" dirty="0">
                <a:solidFill>
                  <a:srgbClr val="FF0000"/>
                </a:solidFill>
              </a:rPr>
              <a:t>데이터 입력 작업 중에는 </a:t>
            </a:r>
            <a:r>
              <a:rPr lang="ko-KR" altLang="en-US" sz="1200" dirty="0" err="1">
                <a:solidFill>
                  <a:srgbClr val="FF0000"/>
                </a:solidFill>
              </a:rPr>
              <a:t>임베딩상태를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(N)</a:t>
            </a:r>
            <a:r>
              <a:rPr lang="ko-KR" altLang="en-US" sz="1200" dirty="0">
                <a:solidFill>
                  <a:srgbClr val="FF0000"/>
                </a:solidFill>
              </a:rPr>
              <a:t>미처리로 지정하고 저장하면 </a:t>
            </a:r>
            <a:r>
              <a:rPr lang="ko-KR" altLang="en-US" sz="1200" dirty="0"/>
              <a:t>현재 입력 중이며 암호화상태가 </a:t>
            </a:r>
            <a:r>
              <a:rPr lang="en-US" altLang="ko-KR" sz="1200" dirty="0"/>
              <a:t>N </a:t>
            </a:r>
            <a:r>
              <a:rPr lang="ko-KR" altLang="en-US" sz="1200" dirty="0"/>
              <a:t>인 것만 조회 되므로 빠른 시간에 계속 입력 할 수 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필터체크 </a:t>
            </a:r>
            <a:r>
              <a:rPr lang="en-US" altLang="ko-KR" sz="1200" dirty="0"/>
              <a:t>: </a:t>
            </a:r>
            <a:r>
              <a:rPr lang="ko-KR" altLang="en-US" sz="1200" dirty="0"/>
              <a:t>그리드에 데이터가 표시 되고 있는 동안 체크하면 그리드 상단에 각 컬럼별로 입력 항목이 나타난다</a:t>
            </a:r>
            <a:r>
              <a:rPr lang="en-US" altLang="ko-KR" sz="1200" dirty="0"/>
              <a:t>. </a:t>
            </a:r>
            <a:r>
              <a:rPr lang="ko-KR" altLang="en-US" sz="1200" dirty="0"/>
              <a:t>항목별로 입력하면 해당 컬럼이 입력한 값을 포함하는 데이터만 남아서 표시된다</a:t>
            </a:r>
            <a:r>
              <a:rPr lang="en-US" altLang="ko-KR" sz="1200" dirty="0"/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695B81-1795-0E37-4085-FAE2B1919FB1}"/>
              </a:ext>
            </a:extLst>
          </p:cNvPr>
          <p:cNvSpPr/>
          <p:nvPr/>
        </p:nvSpPr>
        <p:spPr>
          <a:xfrm>
            <a:off x="871538" y="1800226"/>
            <a:ext cx="8015287" cy="10953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BF291BBB-A86D-9F5D-D005-D89A4F6DA308}"/>
              </a:ext>
            </a:extLst>
          </p:cNvPr>
          <p:cNvSpPr/>
          <p:nvPr/>
        </p:nvSpPr>
        <p:spPr>
          <a:xfrm>
            <a:off x="9014531" y="1658937"/>
            <a:ext cx="939094" cy="315912"/>
          </a:xfrm>
          <a:prstGeom prst="wedgeRectCallout">
            <a:avLst>
              <a:gd name="adj1" fmla="val -95833"/>
              <a:gd name="adj2" fmla="val 11074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그리드</a:t>
            </a:r>
          </a:p>
        </p:txBody>
      </p:sp>
      <p:sp>
        <p:nvSpPr>
          <p:cNvPr id="10" name="말풍선: 사각형 9">
            <a:extLst>
              <a:ext uri="{FF2B5EF4-FFF2-40B4-BE49-F238E27FC236}">
                <a16:creationId xmlns:a16="http://schemas.microsoft.com/office/drawing/2014/main" id="{4DF0EDB7-5450-AA67-DACC-EDC146768AB0}"/>
              </a:ext>
            </a:extLst>
          </p:cNvPr>
          <p:cNvSpPr/>
          <p:nvPr/>
        </p:nvSpPr>
        <p:spPr>
          <a:xfrm>
            <a:off x="7448550" y="790882"/>
            <a:ext cx="1085850" cy="315912"/>
          </a:xfrm>
          <a:prstGeom prst="wedgeRectCallout">
            <a:avLst>
              <a:gd name="adj1" fmla="val -87083"/>
              <a:gd name="adj2" fmla="val 165013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조회조건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DD8AC5-350C-08AB-B598-380A702BD322}"/>
              </a:ext>
            </a:extLst>
          </p:cNvPr>
          <p:cNvSpPr/>
          <p:nvPr/>
        </p:nvSpPr>
        <p:spPr>
          <a:xfrm>
            <a:off x="3390899" y="1368842"/>
            <a:ext cx="4886325" cy="2517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182069C-EA35-A0A6-76E6-C20ED2FBFA76}"/>
              </a:ext>
            </a:extLst>
          </p:cNvPr>
          <p:cNvSpPr/>
          <p:nvPr/>
        </p:nvSpPr>
        <p:spPr>
          <a:xfrm>
            <a:off x="881063" y="3286126"/>
            <a:ext cx="8015287" cy="4553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8ADB508-50CA-71C9-C3A6-3B6C9846C853}"/>
              </a:ext>
            </a:extLst>
          </p:cNvPr>
          <p:cNvSpPr/>
          <p:nvPr/>
        </p:nvSpPr>
        <p:spPr>
          <a:xfrm>
            <a:off x="871538" y="3904305"/>
            <a:ext cx="8015287" cy="4909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말풍선: 사각형 13">
            <a:extLst>
              <a:ext uri="{FF2B5EF4-FFF2-40B4-BE49-F238E27FC236}">
                <a16:creationId xmlns:a16="http://schemas.microsoft.com/office/drawing/2014/main" id="{3A3CB857-689F-D6FA-37A3-A624649D9085}"/>
              </a:ext>
            </a:extLst>
          </p:cNvPr>
          <p:cNvSpPr/>
          <p:nvPr/>
        </p:nvSpPr>
        <p:spPr>
          <a:xfrm>
            <a:off x="9047867" y="2486857"/>
            <a:ext cx="939094" cy="476252"/>
          </a:xfrm>
          <a:prstGeom prst="wedgeRectCallout">
            <a:avLst>
              <a:gd name="adj1" fmla="val -92790"/>
              <a:gd name="adj2" fmla="val 12474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원본문서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상세 표시</a:t>
            </a:r>
          </a:p>
        </p:txBody>
      </p:sp>
      <p:sp>
        <p:nvSpPr>
          <p:cNvPr id="15" name="말풍선: 사각형 14">
            <a:extLst>
              <a:ext uri="{FF2B5EF4-FFF2-40B4-BE49-F238E27FC236}">
                <a16:creationId xmlns:a16="http://schemas.microsoft.com/office/drawing/2014/main" id="{CE50B141-335B-83BA-6FCF-A052476155CC}"/>
              </a:ext>
            </a:extLst>
          </p:cNvPr>
          <p:cNvSpPr/>
          <p:nvPr/>
        </p:nvSpPr>
        <p:spPr>
          <a:xfrm>
            <a:off x="9257857" y="3938712"/>
            <a:ext cx="1391533" cy="476252"/>
          </a:xfrm>
          <a:prstGeom prst="wedgeRectCallout">
            <a:avLst>
              <a:gd name="adj1" fmla="val -93779"/>
              <a:gd name="adj2" fmla="val -1125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수정후문서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상세 표시</a:t>
            </a:r>
          </a:p>
        </p:txBody>
      </p:sp>
      <p:sp>
        <p:nvSpPr>
          <p:cNvPr id="16" name="말풍선: 사각형 15">
            <a:extLst>
              <a:ext uri="{FF2B5EF4-FFF2-40B4-BE49-F238E27FC236}">
                <a16:creationId xmlns:a16="http://schemas.microsoft.com/office/drawing/2014/main" id="{EC932A98-DB43-D877-DFD6-152DF10FF8A5}"/>
              </a:ext>
            </a:extLst>
          </p:cNvPr>
          <p:cNvSpPr/>
          <p:nvPr/>
        </p:nvSpPr>
        <p:spPr>
          <a:xfrm>
            <a:off x="9626950" y="3250832"/>
            <a:ext cx="1391533" cy="476252"/>
          </a:xfrm>
          <a:prstGeom prst="wedgeRectCallout">
            <a:avLst>
              <a:gd name="adj1" fmla="val -101993"/>
              <a:gd name="adj2" fmla="val 66743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수정후문서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저장 버튼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7" name="말풍선: 사각형 16">
            <a:extLst>
              <a:ext uri="{FF2B5EF4-FFF2-40B4-BE49-F238E27FC236}">
                <a16:creationId xmlns:a16="http://schemas.microsoft.com/office/drawing/2014/main" id="{65D6C118-E0C3-2C0C-6951-3E1A2E659619}"/>
              </a:ext>
            </a:extLst>
          </p:cNvPr>
          <p:cNvSpPr/>
          <p:nvPr/>
        </p:nvSpPr>
        <p:spPr>
          <a:xfrm>
            <a:off x="8867774" y="734622"/>
            <a:ext cx="1085850" cy="476252"/>
          </a:xfrm>
          <a:prstGeom prst="wedgeRectCallout">
            <a:avLst>
              <a:gd name="adj1" fmla="val -71294"/>
              <a:gd name="adj2" fmla="val 83013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신규등록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등록 중 취소</a:t>
            </a:r>
          </a:p>
        </p:txBody>
      </p:sp>
      <p:sp>
        <p:nvSpPr>
          <p:cNvPr id="18" name="말풍선: 사각형 17">
            <a:extLst>
              <a:ext uri="{FF2B5EF4-FFF2-40B4-BE49-F238E27FC236}">
                <a16:creationId xmlns:a16="http://schemas.microsoft.com/office/drawing/2014/main" id="{22CF1816-041E-B32E-7A03-0587BA197F31}"/>
              </a:ext>
            </a:extLst>
          </p:cNvPr>
          <p:cNvSpPr/>
          <p:nvPr/>
        </p:nvSpPr>
        <p:spPr>
          <a:xfrm>
            <a:off x="3600451" y="672710"/>
            <a:ext cx="1085850" cy="315912"/>
          </a:xfrm>
          <a:prstGeom prst="wedgeRectCallout">
            <a:avLst>
              <a:gd name="adj1" fmla="val -87083"/>
              <a:gd name="adj2" fmla="val 18913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필터체크</a:t>
            </a:r>
          </a:p>
        </p:txBody>
      </p:sp>
    </p:spTree>
    <p:extLst>
      <p:ext uri="{BB962C8B-B14F-4D97-AF65-F5344CB8AC3E}">
        <p14:creationId xmlns:p14="http://schemas.microsoft.com/office/powerpoint/2010/main" val="2900575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EF1C74-6CA6-3312-DB73-AC5D74F56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관리자정보 </a:t>
            </a:r>
            <a:r>
              <a:rPr lang="en-US" altLang="ko-KR" dirty="0"/>
              <a:t>&gt; </a:t>
            </a:r>
            <a:r>
              <a:rPr lang="ko-KR" altLang="en-US" dirty="0"/>
              <a:t>데이터관리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14717-338E-5141-DA66-1D67F1316D5C}"/>
              </a:ext>
            </a:extLst>
          </p:cNvPr>
          <p:cNvSpPr txBox="1"/>
          <p:nvPr/>
        </p:nvSpPr>
        <p:spPr>
          <a:xfrm>
            <a:off x="838202" y="1089025"/>
            <a:ext cx="10836276" cy="4893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3. </a:t>
            </a:r>
            <a:r>
              <a:rPr lang="ko-KR" altLang="en-US" sz="1200" dirty="0"/>
              <a:t>신규 등록 </a:t>
            </a:r>
            <a:r>
              <a:rPr lang="en-US" altLang="ko-KR" sz="1200" dirty="0"/>
              <a:t>/ </a:t>
            </a:r>
            <a:r>
              <a:rPr lang="ko-KR" altLang="en-US" sz="1200" dirty="0"/>
              <a:t>등록 중 취소 </a:t>
            </a:r>
            <a:r>
              <a:rPr lang="en-US" altLang="ko-KR" sz="1200" dirty="0"/>
              <a:t>: </a:t>
            </a:r>
            <a:r>
              <a:rPr lang="ko-KR" altLang="en-US" sz="1200" dirty="0"/>
              <a:t>등록 버튼은 데이터를 입력할 수 있도록 그리드 최하단에 한 줄이 나타난다</a:t>
            </a:r>
            <a:r>
              <a:rPr lang="en-US" altLang="ko-KR" sz="1200" dirty="0"/>
              <a:t>. </a:t>
            </a:r>
          </a:p>
          <a:p>
            <a:r>
              <a:rPr lang="ko-KR" altLang="en-US" sz="1200" dirty="0"/>
              <a:t>새로운 줄에 입력을 하고 우측의 저장 버튼을 클릭하면 저장된다</a:t>
            </a:r>
            <a:r>
              <a:rPr lang="en-US" altLang="ko-KR" sz="1200" dirty="0"/>
              <a:t>. </a:t>
            </a:r>
          </a:p>
          <a:p>
            <a:r>
              <a:rPr lang="ko-KR" altLang="en-US" sz="1200" dirty="0"/>
              <a:t>데이터 등록 중 새로운 줄 등록을 취소하려면 취소버튼을 클릭하면 신규 데이터 라인이 없어진다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4. </a:t>
            </a:r>
            <a:r>
              <a:rPr lang="ko-KR" altLang="en-US" sz="1200" dirty="0"/>
              <a:t>그리드 </a:t>
            </a:r>
            <a:r>
              <a:rPr lang="en-US" altLang="ko-KR" sz="1200" dirty="0"/>
              <a:t>: </a:t>
            </a:r>
            <a:r>
              <a:rPr lang="ko-KR" altLang="en-US" sz="1200" dirty="0"/>
              <a:t>데이터가 표시되는 목록이다</a:t>
            </a:r>
            <a:r>
              <a:rPr lang="en-US" altLang="ko-KR" sz="1200" dirty="0"/>
              <a:t>. </a:t>
            </a:r>
            <a:r>
              <a:rPr lang="ko-KR" altLang="en-US" sz="1200" dirty="0"/>
              <a:t>엑셀시트 처럼 데이터별 컬럼별 테이블 처럼 표시된다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등록버튼으로 새로운 데이터 한 줄을 입력할 수 있고 저장 버튼을 클릭하면 저장된다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우측의 삭제버튼을 클릭하면 한 줄이 삭제된다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데이터를 수정하려면 수정 가능한 컬럼에서 직접 입력하고 우측의 저장버튼을 클릭하면 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>
                <a:solidFill>
                  <a:srgbClr val="FF0000"/>
                </a:solidFill>
              </a:rPr>
              <a:t>동시에 여러 개의 줄을 수정하면 안된다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/>
              <a:t>반드시 한 줄을 등록하거나 수정하면 저장 버튼을 클릭하여 저장한 후 다른 줄을 등록</a:t>
            </a:r>
            <a:r>
              <a:rPr lang="en-US" altLang="ko-KR" sz="1200" dirty="0"/>
              <a:t>/</a:t>
            </a:r>
            <a:r>
              <a:rPr lang="ko-KR" altLang="en-US" sz="1200" dirty="0"/>
              <a:t>수정하여야 한다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 err="1"/>
              <a:t>연번호</a:t>
            </a:r>
            <a:r>
              <a:rPr lang="ko-KR" altLang="en-US" sz="1200" dirty="0"/>
              <a:t> </a:t>
            </a:r>
            <a:r>
              <a:rPr lang="en-US" altLang="ko-KR" sz="1200" dirty="0"/>
              <a:t>: </a:t>
            </a:r>
            <a:r>
              <a:rPr lang="ko-KR" altLang="en-US" sz="1200" dirty="0"/>
              <a:t>자동으로 부여되는 연속되는 번호이므로 직접 입력하지 않는다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문서종류 </a:t>
            </a:r>
            <a:r>
              <a:rPr lang="en-US" altLang="ko-KR" sz="1200" dirty="0"/>
              <a:t>: </a:t>
            </a:r>
            <a:r>
              <a:rPr lang="ko-KR" altLang="en-US" sz="1200" dirty="0" err="1">
                <a:solidFill>
                  <a:srgbClr val="FF0000"/>
                </a:solidFill>
              </a:rPr>
              <a:t>더블클릭하면</a:t>
            </a:r>
            <a:r>
              <a:rPr lang="ko-KR" altLang="en-US" sz="1200" dirty="0"/>
              <a:t> 데이터의 원본의 문서종류 항목이 팝업으로 나타나는데 해당 항목의 좌측 선택버튼을 클릭한다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건강주제 </a:t>
            </a:r>
            <a:r>
              <a:rPr lang="en-US" altLang="ko-KR" sz="1200" dirty="0"/>
              <a:t>: </a:t>
            </a:r>
            <a:r>
              <a:rPr lang="ko-KR" altLang="en-US" sz="1200" dirty="0" err="1">
                <a:solidFill>
                  <a:srgbClr val="FF0000"/>
                </a:solidFill>
              </a:rPr>
              <a:t>더블클릭하면</a:t>
            </a:r>
            <a:r>
              <a:rPr lang="ko-KR" altLang="en-US" sz="1200" dirty="0"/>
              <a:t> 데이터의 건강주제 항목이 팝업으로 나타나는데 해당 항목의 좌측 선택버튼을 클릭한다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문서종류와 건강주제 항목은 관리자정보</a:t>
            </a:r>
            <a:r>
              <a:rPr lang="en-US" altLang="ko-KR" sz="1200" dirty="0"/>
              <a:t>&gt;</a:t>
            </a:r>
            <a:r>
              <a:rPr lang="ko-KR" altLang="en-US" sz="1200" dirty="0" err="1"/>
              <a:t>기초코드등록</a:t>
            </a:r>
            <a:r>
              <a:rPr lang="ko-KR" altLang="en-US" sz="1200" dirty="0"/>
              <a:t> </a:t>
            </a:r>
            <a:r>
              <a:rPr lang="en-US" altLang="ko-KR" sz="1200" dirty="0"/>
              <a:t>38, 39 </a:t>
            </a:r>
            <a:r>
              <a:rPr lang="ko-KR" altLang="en-US" sz="1200" dirty="0"/>
              <a:t>항목에서 추가</a:t>
            </a:r>
            <a:r>
              <a:rPr lang="en-US" altLang="ko-KR" sz="1200" dirty="0"/>
              <a:t>/</a:t>
            </a:r>
            <a:r>
              <a:rPr lang="ko-KR" altLang="en-US" sz="1200" dirty="0"/>
              <a:t>수정</a:t>
            </a:r>
            <a:r>
              <a:rPr lang="en-US" altLang="ko-KR" sz="1200" dirty="0"/>
              <a:t>/</a:t>
            </a:r>
            <a:r>
              <a:rPr lang="ko-KR" altLang="en-US" sz="1200" dirty="0"/>
              <a:t>삭제 할 수 있다</a:t>
            </a:r>
            <a:endParaRPr lang="en-US" altLang="ko-KR" sz="1200" dirty="0"/>
          </a:p>
          <a:p>
            <a:r>
              <a:rPr lang="ko-KR" altLang="en-US" sz="1200" dirty="0"/>
              <a:t>다중태그 </a:t>
            </a:r>
            <a:r>
              <a:rPr lang="en-US" altLang="ko-KR" sz="1200" dirty="0"/>
              <a:t>: </a:t>
            </a:r>
            <a:r>
              <a:rPr lang="ko-KR" altLang="en-US" sz="1200" dirty="0"/>
              <a:t>해당 문서에 대한 태그를 직접 입력하는 곳으로 </a:t>
            </a:r>
            <a:r>
              <a:rPr lang="en-US" altLang="ko-KR" sz="1200" dirty="0"/>
              <a:t>#</a:t>
            </a:r>
            <a:r>
              <a:rPr lang="ko-KR" altLang="en-US" sz="1200" dirty="0"/>
              <a:t>당근</a:t>
            </a:r>
            <a:r>
              <a:rPr lang="en-US" altLang="ko-KR" sz="1200" dirty="0"/>
              <a:t>#</a:t>
            </a:r>
            <a:r>
              <a:rPr lang="ko-KR" altLang="en-US" sz="1200" dirty="0"/>
              <a:t>서울 이런 식으로 </a:t>
            </a:r>
            <a:r>
              <a:rPr lang="en-US" altLang="ko-KR" sz="1200" dirty="0"/>
              <a:t>#</a:t>
            </a:r>
            <a:r>
              <a:rPr lang="ko-KR" altLang="en-US" sz="1200" dirty="0"/>
              <a:t>와 함께 입력하여 차후 검색에 활용한다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문서</a:t>
            </a:r>
            <a:r>
              <a:rPr lang="en-US" altLang="ko-KR" sz="1200" dirty="0"/>
              <a:t>URL : </a:t>
            </a:r>
            <a:r>
              <a:rPr lang="ko-KR" altLang="en-US" sz="1200" dirty="0"/>
              <a:t>텍스트로 변환하여 </a:t>
            </a:r>
            <a:r>
              <a:rPr lang="ko-KR" altLang="en-US" sz="1200" dirty="0" err="1"/>
              <a:t>챗봇의</a:t>
            </a:r>
            <a:r>
              <a:rPr lang="ko-KR" altLang="en-US" sz="1200" dirty="0"/>
              <a:t> 답변에 사용할 동영상 </a:t>
            </a:r>
            <a:r>
              <a:rPr lang="en-US" altLang="ko-KR" sz="1200" dirty="0"/>
              <a:t>URL </a:t>
            </a:r>
            <a:r>
              <a:rPr lang="ko-KR" altLang="en-US" sz="1200" dirty="0"/>
              <a:t>을 입력한다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문서화 버튼 </a:t>
            </a:r>
            <a:r>
              <a:rPr lang="en-US" altLang="ko-KR" sz="1200" dirty="0"/>
              <a:t>: </a:t>
            </a:r>
            <a:r>
              <a:rPr lang="ko-KR" altLang="en-US" sz="1200" dirty="0"/>
              <a:t>문서</a:t>
            </a:r>
            <a:r>
              <a:rPr lang="en-US" altLang="ko-KR" sz="1200" dirty="0"/>
              <a:t>URL </a:t>
            </a:r>
            <a:r>
              <a:rPr lang="ko-KR" altLang="en-US" sz="1200" dirty="0"/>
              <a:t>의 동영상을 텍스트로 변환하여 문서원본과 </a:t>
            </a:r>
            <a:r>
              <a:rPr lang="ko-KR" altLang="en-US" sz="1200" dirty="0" err="1"/>
              <a:t>수정후문서로</a:t>
            </a:r>
            <a:r>
              <a:rPr lang="ko-KR" altLang="en-US" sz="1200" dirty="0"/>
              <a:t> 입력된다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문서원본 </a:t>
            </a:r>
            <a:r>
              <a:rPr lang="en-US" altLang="ko-KR" sz="1200" dirty="0"/>
              <a:t>: </a:t>
            </a:r>
            <a:r>
              <a:rPr lang="ko-KR" altLang="en-US" sz="1200" dirty="0"/>
              <a:t>문서화 버튼에 의해 텍스트로 변환된 데이터의 원본 내용이다</a:t>
            </a:r>
            <a:r>
              <a:rPr lang="en-US" altLang="ko-KR" sz="1200" dirty="0"/>
              <a:t>. </a:t>
            </a:r>
            <a:r>
              <a:rPr lang="ko-KR" altLang="en-US" sz="1200" dirty="0"/>
              <a:t>이 부분은 수정할 수 없다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 err="1"/>
              <a:t>수정후문서</a:t>
            </a:r>
            <a:r>
              <a:rPr lang="ko-KR" altLang="en-US" sz="1200" dirty="0"/>
              <a:t> </a:t>
            </a:r>
            <a:r>
              <a:rPr lang="en-US" altLang="ko-KR" sz="1200" dirty="0"/>
              <a:t>: </a:t>
            </a:r>
            <a:r>
              <a:rPr lang="ko-KR" altLang="en-US" sz="1200" dirty="0"/>
              <a:t>문서원본 </a:t>
            </a:r>
            <a:r>
              <a:rPr lang="ko-KR" altLang="en-US" sz="1200" dirty="0" err="1"/>
              <a:t>등록시</a:t>
            </a:r>
            <a:r>
              <a:rPr lang="ko-KR" altLang="en-US" sz="1200" dirty="0"/>
              <a:t> 동시에 입력되며 사용자가 잘못된 내용 등을 수정하는 부분이다</a:t>
            </a:r>
            <a:r>
              <a:rPr lang="en-US" altLang="ko-KR" sz="1200" dirty="0"/>
              <a:t>. </a:t>
            </a:r>
            <a:r>
              <a:rPr lang="ko-KR" altLang="en-US" sz="1200" dirty="0"/>
              <a:t>화면 하단의 </a:t>
            </a:r>
            <a:r>
              <a:rPr lang="ko-KR" altLang="en-US" sz="1200" dirty="0" err="1">
                <a:solidFill>
                  <a:srgbClr val="FF0000"/>
                </a:solidFill>
              </a:rPr>
              <a:t>수정후문서</a:t>
            </a:r>
            <a:r>
              <a:rPr lang="ko-KR" altLang="en-US" sz="1200" dirty="0">
                <a:solidFill>
                  <a:srgbClr val="FF0000"/>
                </a:solidFill>
              </a:rPr>
              <a:t> 상세표시 부분에서 수정한 후 </a:t>
            </a:r>
            <a:r>
              <a:rPr lang="ko-KR" altLang="en-US" sz="1200" dirty="0"/>
              <a:t>해당 영역의 우측상단의 저장 버튼을 클릭하여 저장한다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r>
              <a:rPr lang="ko-KR" altLang="en-US" sz="1200" dirty="0"/>
              <a:t>암호화상태 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수정후문서를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챗봇에서</a:t>
            </a:r>
            <a:r>
              <a:rPr lang="ko-KR" altLang="en-US" sz="1200" dirty="0"/>
              <a:t> 사용할 수 있는 데이터로 가공하여 벡터데이터로 저장 되었는지 여부를 확인한다</a:t>
            </a:r>
            <a:r>
              <a:rPr lang="en-US" altLang="ko-KR" sz="1200" dirty="0"/>
              <a:t>. ‘Y’ </a:t>
            </a:r>
            <a:r>
              <a:rPr lang="ko-KR" altLang="en-US" sz="1200" dirty="0"/>
              <a:t>일 경우 암호화 된 경우이다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처음 데이터를 입력한 경우에는 </a:t>
            </a:r>
            <a:r>
              <a:rPr lang="en-US" altLang="ko-KR" sz="1200" dirty="0"/>
              <a:t>‘N’ </a:t>
            </a:r>
            <a:r>
              <a:rPr lang="ko-KR" altLang="en-US" sz="1200" dirty="0"/>
              <a:t>로 되어 있으며 암호화 버튼을 클릭한 경우  </a:t>
            </a:r>
            <a:r>
              <a:rPr lang="en-US" altLang="ko-KR" sz="1200" dirty="0"/>
              <a:t>‘Y’ </a:t>
            </a:r>
            <a:r>
              <a:rPr lang="ko-KR" altLang="en-US" sz="1200" dirty="0"/>
              <a:t>로 수정된다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암호화 버튼 </a:t>
            </a:r>
            <a:r>
              <a:rPr lang="en-US" altLang="ko-KR" sz="1200" dirty="0"/>
              <a:t>: </a:t>
            </a:r>
            <a:r>
              <a:rPr lang="ko-KR" altLang="en-US" sz="1200" dirty="0"/>
              <a:t>현재 라인의 데이터를 암호화 하여 </a:t>
            </a:r>
            <a:r>
              <a:rPr lang="ko-KR" altLang="en-US" sz="1200" dirty="0" err="1"/>
              <a:t>챗봇에서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사용가능하게</a:t>
            </a:r>
            <a:r>
              <a:rPr lang="ko-KR" altLang="en-US" sz="1200" dirty="0"/>
              <a:t> 만든다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>
                <a:solidFill>
                  <a:srgbClr val="FF0000"/>
                </a:solidFill>
              </a:rPr>
              <a:t>문서화 버튼과 암호화 버튼은 반드시 저장 버튼으로 해당 데이터가 저장된 후 클릭</a:t>
            </a:r>
            <a:r>
              <a:rPr lang="ko-KR" altLang="en-US" sz="1200" dirty="0"/>
              <a:t>하여야 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저장 버튼 </a:t>
            </a:r>
            <a:r>
              <a:rPr lang="en-US" altLang="ko-KR" sz="1200" dirty="0"/>
              <a:t>: </a:t>
            </a:r>
            <a:r>
              <a:rPr lang="ko-KR" altLang="en-US" sz="1200" dirty="0"/>
              <a:t>데이터 한 줄이 등록되거나 수정된 후 실제로 저장된다</a:t>
            </a:r>
            <a:r>
              <a:rPr lang="en-US" altLang="ko-KR" sz="1200" dirty="0"/>
              <a:t>. </a:t>
            </a:r>
          </a:p>
          <a:p>
            <a:r>
              <a:rPr lang="ko-KR" altLang="en-US" sz="1200" dirty="0"/>
              <a:t>삭제 버튼 </a:t>
            </a:r>
            <a:r>
              <a:rPr lang="en-US" altLang="ko-KR" sz="1200" dirty="0"/>
              <a:t>: </a:t>
            </a:r>
            <a:r>
              <a:rPr lang="ko-KR" altLang="en-US" sz="1200" dirty="0"/>
              <a:t>현재의 데이터 한 줄이 삭제된다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3090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2B87B-3EAA-99B0-854F-8059C372C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챗봇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922C2F-D60B-FB80-6010-0A29F9E7DC78}"/>
              </a:ext>
            </a:extLst>
          </p:cNvPr>
          <p:cNvSpPr txBox="1"/>
          <p:nvPr/>
        </p:nvSpPr>
        <p:spPr>
          <a:xfrm>
            <a:off x="6096000" y="1089025"/>
            <a:ext cx="557847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smarticon.kr:25101/</a:t>
            </a:r>
            <a:r>
              <a:rPr lang="en-US" altLang="ko-KR" sz="1200" dirty="0" err="1"/>
              <a:t>m_m</a:t>
            </a:r>
            <a:endParaRPr lang="en-US" altLang="ko-KR" sz="1200" dirty="0"/>
          </a:p>
        </p:txBody>
      </p:sp>
      <p:pic>
        <p:nvPicPr>
          <p:cNvPr id="5" name="그림 4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03C044-5580-E911-1708-19BAF0492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63" y="1089025"/>
            <a:ext cx="2588119" cy="467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94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234</TotalTime>
  <Words>518</Words>
  <Application>Microsoft Office PowerPoint</Application>
  <PresentationFormat>와이드스크린</PresentationFormat>
  <Paragraphs>49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사용설명서_관리자시스템</vt:lpstr>
      <vt:lpstr>관리자정보 &gt; 데이터관리 </vt:lpstr>
      <vt:lpstr>관리자정보 &gt; 데이터관리 </vt:lpstr>
      <vt:lpstr>챗봇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T35005</dc:creator>
  <cp:lastModifiedBy>T35005</cp:lastModifiedBy>
  <cp:revision>4</cp:revision>
  <dcterms:created xsi:type="dcterms:W3CDTF">2026-02-11T01:07:35Z</dcterms:created>
  <dcterms:modified xsi:type="dcterms:W3CDTF">2026-02-19T10:06:59Z</dcterms:modified>
</cp:coreProperties>
</file>